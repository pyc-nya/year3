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58"/>
  </p:notesMasterIdLst>
  <p:sldIdLst>
    <p:sldId id="257" r:id="rId2"/>
    <p:sldId id="318" r:id="rId3"/>
    <p:sldId id="344" r:id="rId4"/>
    <p:sldId id="320" r:id="rId5"/>
    <p:sldId id="321" r:id="rId6"/>
    <p:sldId id="322" r:id="rId7"/>
    <p:sldId id="326" r:id="rId8"/>
    <p:sldId id="345" r:id="rId9"/>
    <p:sldId id="324" r:id="rId10"/>
    <p:sldId id="258" r:id="rId11"/>
    <p:sldId id="302" r:id="rId12"/>
    <p:sldId id="346" r:id="rId13"/>
    <p:sldId id="347" r:id="rId14"/>
    <p:sldId id="349" r:id="rId15"/>
    <p:sldId id="348" r:id="rId16"/>
    <p:sldId id="304" r:id="rId17"/>
    <p:sldId id="305" r:id="rId18"/>
    <p:sldId id="306" r:id="rId19"/>
    <p:sldId id="303" r:id="rId20"/>
    <p:sldId id="353" r:id="rId21"/>
    <p:sldId id="350" r:id="rId22"/>
    <p:sldId id="351" r:id="rId23"/>
    <p:sldId id="352" r:id="rId24"/>
    <p:sldId id="278" r:id="rId25"/>
    <p:sldId id="310" r:id="rId26"/>
    <p:sldId id="354" r:id="rId27"/>
    <p:sldId id="312" r:id="rId28"/>
    <p:sldId id="295" r:id="rId29"/>
    <p:sldId id="307" r:id="rId30"/>
    <p:sldId id="313" r:id="rId31"/>
    <p:sldId id="342" r:id="rId32"/>
    <p:sldId id="356" r:id="rId33"/>
    <p:sldId id="357" r:id="rId34"/>
    <p:sldId id="315" r:id="rId35"/>
    <p:sldId id="359" r:id="rId36"/>
    <p:sldId id="299" r:id="rId37"/>
    <p:sldId id="282" r:id="rId38"/>
    <p:sldId id="317" r:id="rId39"/>
    <p:sldId id="336" r:id="rId40"/>
    <p:sldId id="337" r:id="rId41"/>
    <p:sldId id="301" r:id="rId42"/>
    <p:sldId id="300" r:id="rId43"/>
    <p:sldId id="340" r:id="rId44"/>
    <p:sldId id="334" r:id="rId45"/>
    <p:sldId id="338" r:id="rId46"/>
    <p:sldId id="339" r:id="rId47"/>
    <p:sldId id="360" r:id="rId48"/>
    <p:sldId id="341" r:id="rId49"/>
    <p:sldId id="325" r:id="rId50"/>
    <p:sldId id="327" r:id="rId51"/>
    <p:sldId id="328" r:id="rId52"/>
    <p:sldId id="316" r:id="rId53"/>
    <p:sldId id="330" r:id="rId54"/>
    <p:sldId id="331" r:id="rId55"/>
    <p:sldId id="332" r:id="rId56"/>
    <p:sldId id="333" r:id="rId5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6246"/>
    <a:srgbClr val="F1CE6B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2430" y="-6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F1446-0273-41DF-A0C1-139A145C36BE}" type="datetimeFigureOut">
              <a:rPr lang="ru-RU" smtClean="0"/>
              <a:pPr/>
              <a:t>23.03.2023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C23CB-7FE8-4A75-8928-E224B6BFE3B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5757C5FB-1A41-43D1-A019-E2BC7E3EE3A8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C300C-9BBF-4E57-9252-953A1B7B4055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3E82FA5B-4F67-45CB-8FF8-806B710AF249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DF5F3-DDC1-4258-9A6C-9FDC25E519CB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E4303-E127-420D-A1B8-AD71473C750D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8CEE5-DABE-4A80-B5AE-DB868F1316CB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3DAA2-7244-476A-9209-90B2642FE0DD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CFA0B-6EA5-4BC9-A335-9956AAC02BCD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71CB8-7B58-41DE-9C3D-75C06BD26391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1D2CF-21D7-4980-BEF1-773990EF86CB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B04E8-042C-419F-938E-6B8884C4C5ED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7AF4113-65DE-4A34-87E3-04AC27B0EB9F}" type="datetime1">
              <a:rPr lang="ru-RU" smtClean="0"/>
              <a:pPr/>
              <a:t>23.03.2023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/>
            <a:r>
              <a:rPr lang="ru-RU" sz="2500" dirty="0" smtClean="0">
                <a:latin typeface="Arial" pitchFamily="34" charset="0"/>
                <a:cs typeface="Arial" pitchFamily="34" charset="0"/>
              </a:rPr>
              <a:t>ПРОЕКТИРОВАНИЕ ЛОКАЛЬНОЙ </a:t>
            </a:r>
            <a:br>
              <a:rPr lang="ru-RU" sz="2500" dirty="0" smtClean="0">
                <a:latin typeface="Arial" pitchFamily="34" charset="0"/>
                <a:cs typeface="Arial" pitchFamily="34" charset="0"/>
              </a:rPr>
            </a:br>
            <a:r>
              <a:rPr lang="ru-RU" sz="2500" dirty="0" smtClean="0">
                <a:latin typeface="Arial" pitchFamily="34" charset="0"/>
                <a:cs typeface="Arial" pitchFamily="34" charset="0"/>
              </a:rPr>
              <a:t>ВЫЧИСЛИТЕЛЬНОЙ СЕТИ</a:t>
            </a:r>
            <a:r>
              <a:rPr lang="en-US" sz="25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500" dirty="0" smtClean="0">
                <a:latin typeface="Arial" pitchFamily="34" charset="0"/>
                <a:cs typeface="Arial" pitchFamily="34" charset="0"/>
              </a:rPr>
              <a:t>ОРГАНИЗАЦИИ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1800" b="1" dirty="0" smtClean="0">
                <a:latin typeface="Arial" pitchFamily="34" charset="0"/>
                <a:cs typeface="Arial" pitchFamily="34" charset="0"/>
              </a:rPr>
              <a:t>Курсовая работа</a:t>
            </a:r>
            <a:endParaRPr lang="ru-RU" sz="1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Исходные данные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профиль организации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количество зданий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количество этажей в каждом здании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Пример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Профиль организации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высшее учебное заведение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Количество зданий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Количество этажей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1 здание – 1 этаж, 2 здание –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sz="2400" dirty="0" smtClean="0">
                <a:latin typeface="Arial" pitchFamily="34" charset="0"/>
                <a:cs typeface="Arial" pitchFamily="34" charset="0"/>
              </a:rPr>
            </a:br>
            <a:r>
              <a:rPr lang="ru-RU" sz="2400" dirty="0" smtClean="0">
                <a:latin typeface="Arial" pitchFamily="34" charset="0"/>
                <a:cs typeface="Arial" pitchFamily="34" charset="0"/>
              </a:rPr>
              <a:t>1 этаж, 3 здание – 2 этажа, 4 здание – 5 этажей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172.51.0.0/22.</a:t>
            </a: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Требования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Минимальное количество подразделений в здании – 3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подразделения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Минимальное количество конечных устройств в организации – 250 единиц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Сетевой интерфейс каждого конечного устройства имеет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адрес.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542925" indent="169863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количество компьютеров – 200 единиц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542925" indent="169863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количество иных конечных устройств – 50 единиц.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57188" indent="-357188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 Минимальное количество серверов – 5 единиц.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Рабочее место предполагает наличие персонального компьютера, имеющего подключение к локальной вычислительной сети. 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Иные конечные устройства представляют собой принтеры, МФУ,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телефоны,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камеры и т.п.</a:t>
            </a:r>
            <a:endParaRPr lang="ru-RU" sz="20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1. Описание организации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наименование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организационно-правовая форма собственности для коммерческой корпоративной организации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https://www.consultant.ru/document/cons_doc_LAW_139192/64e3b0a5406f97a2183d8c5f87048303f70fc20a/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вид экономической деятельности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код и описание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):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https://www.consultant.ru/document/cons_doc_LAW_163320/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структура (названия всех подразделений)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функции подразделений (не менее трех функций)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Пример описания функций подразделения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IT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-отдел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поддержка работоспособности ЛВС организации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обеспечение технической поддержки пользователей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осуществление ремонта вычислительной техники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закупка и установка лицензионного ПО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закупка и настройка сетевого оборудования.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2. Разработка транспортной подсистемы ЛВС организации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план территории с расположением зданий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3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описание каждого здания, включающее количество этажей и названия подразделений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;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 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описание каждого этажа здания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:</a:t>
            </a:r>
            <a:endParaRPr lang="ru-RU" sz="2300" dirty="0" smtClean="0">
              <a:latin typeface="Arial" pitchFamily="34" charset="0"/>
              <a:cs typeface="Arial" pitchFamily="34" charset="0"/>
            </a:endParaRPr>
          </a:p>
          <a:p>
            <a:pPr marL="898525" indent="-539750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номер этажа, </a:t>
            </a:r>
          </a:p>
          <a:p>
            <a:pPr marL="898525" indent="-539750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диапазон номеров помещений, </a:t>
            </a:r>
          </a:p>
          <a:p>
            <a:pPr marL="898525" indent="-539750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названия подразделений с привязкой к номеру или группе номеров помещений, </a:t>
            </a:r>
          </a:p>
          <a:p>
            <a:pPr marL="898525" indent="-539750" algn="just">
              <a:lnSpc>
                <a:spcPct val="12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количество промежуточных устройств, компьютеров и иных конечных устройств в каждом помещении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поэтажные планы каждого здания.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Пример плана территории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Яндекс Карты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7" name="Рисунок 6" descr="Безымянны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32" y="1500174"/>
            <a:ext cx="5086577" cy="4582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Пример плана территории. Графический редактор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1026" name="Picture 2" descr="http://dkb-sar.ru/wp-content/uploads/2019/02/Stend_3690%D1%851000.jpg"/>
          <p:cNvPicPr>
            <a:picLocks noChangeAspect="1" noChangeArrowheads="1"/>
          </p:cNvPicPr>
          <p:nvPr/>
        </p:nvPicPr>
        <p:blipFill>
          <a:blip r:embed="rId2"/>
          <a:srcRect l="59670" t="3303" r="947" b="3119"/>
          <a:stretch>
            <a:fillRect/>
          </a:stretch>
        </p:blipFill>
        <p:spPr bwMode="auto">
          <a:xfrm>
            <a:off x="857224" y="1500174"/>
            <a:ext cx="7211036" cy="46434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Пример описания этажа здания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Здание 4. 2 этаж (2 промежуточных устройства, 29 компьютеров, 5 серверов, 7 иных конечных устройств).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Нумерация помещений слева направо по часовой стрелке, начиная с 4201 и заканчивая 4205.</a:t>
            </a:r>
          </a:p>
          <a:p>
            <a:pPr marL="717550" indent="-352425" algn="just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Помещение 4201 – планово-экономический отдел (10 компьютеров, 2 МФУ, 1 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-телефон)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100" dirty="0" smtClean="0">
              <a:latin typeface="Arial" pitchFamily="34" charset="0"/>
              <a:cs typeface="Arial" pitchFamily="34" charset="0"/>
            </a:endParaRPr>
          </a:p>
          <a:p>
            <a:pPr marL="717550" indent="-352425" algn="just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Помещение 4202 – отдел организации труда и заработной платы (7 компьютеров, 1 принтер)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100" dirty="0" smtClean="0">
              <a:latin typeface="Arial" pitchFamily="34" charset="0"/>
              <a:cs typeface="Arial" pitchFamily="34" charset="0"/>
            </a:endParaRPr>
          </a:p>
          <a:p>
            <a:pPr marL="717550" indent="-352425" algn="just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Помещение 4203 – отдел материально-технического снабжения (12 компьютеров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2 МФУ,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1 IP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-телефон)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100" dirty="0" smtClean="0">
              <a:latin typeface="Arial" pitchFamily="34" charset="0"/>
              <a:cs typeface="Arial" pitchFamily="34" charset="0"/>
            </a:endParaRPr>
          </a:p>
          <a:p>
            <a:pPr marL="717550" indent="-352425" algn="just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Помещение 4204 – серверная (1 маршрутизатор, 1 коммутатор третьего уровня, 5 серверов)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100" dirty="0" smtClean="0">
              <a:latin typeface="Arial" pitchFamily="34" charset="0"/>
              <a:cs typeface="Arial" pitchFamily="34" charset="0"/>
            </a:endParaRPr>
          </a:p>
          <a:p>
            <a:pPr marL="717550" indent="-352425" algn="just">
              <a:lnSpc>
                <a:spcPct val="120000"/>
              </a:lnSpc>
              <a:spcBef>
                <a:spcPts val="0"/>
              </a:spcBef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Помещение 4205 – кладовая.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Инструмент для выполнения планов этажей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Diagrams.net (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ранее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Draw.io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) – бесплатное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кроссплатформенное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программное обеспечение с открытым исходным кодом для создания различных диаграмм, таких как блок-схемы, UML,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бизнес-макеты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, интерфейсы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iOS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и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Android,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схемы компьютерных сетей, планы помещений и т.д.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Web-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сайт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https://app.diagrams.net/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2400"/>
              </a:spcBef>
              <a:buNone/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2400"/>
              </a:spcBef>
              <a:buNone/>
            </a:pPr>
            <a:endParaRPr lang="ru-RU" sz="8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2400"/>
              </a:spcBef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*Возможно использование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Microsoft Visio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при наличии лицензии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Создание диаграммы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7" name="Рисунок 6" descr="1.png"/>
          <p:cNvPicPr>
            <a:picLocks noChangeAspect="1"/>
          </p:cNvPicPr>
          <p:nvPr/>
        </p:nvPicPr>
        <p:blipFill>
          <a:blip r:embed="rId2"/>
          <a:srcRect t="2210" b="2274"/>
          <a:stretch>
            <a:fillRect/>
          </a:stretch>
        </p:blipFill>
        <p:spPr>
          <a:xfrm>
            <a:off x="500034" y="2071678"/>
            <a:ext cx="4214842" cy="3000396"/>
          </a:xfrm>
          <a:prstGeom prst="rect">
            <a:avLst/>
          </a:prstGeom>
        </p:spPr>
      </p:pic>
      <p:pic>
        <p:nvPicPr>
          <p:cNvPr id="8" name="Рисунок 7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6" y="2109353"/>
            <a:ext cx="3857652" cy="296272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857752" y="2214554"/>
            <a:ext cx="3500462" cy="3571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785786" y="3071810"/>
            <a:ext cx="3643338" cy="5715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7858148" y="4643446"/>
            <a:ext cx="500066" cy="3571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571472" y="2714620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1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57752" y="178592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2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43834" y="5072074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3</a:t>
            </a:r>
            <a:endParaRPr lang="ru-RU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1643050"/>
            <a:ext cx="7706801" cy="4086796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Доступные наборы фигур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071538" y="4286256"/>
            <a:ext cx="1285884" cy="3571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714348" y="2714620"/>
            <a:ext cx="2000264" cy="15001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285720" y="2786058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1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4348" y="428625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2</a:t>
            </a:r>
            <a:endParaRPr lang="ru-RU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14" y="1357298"/>
            <a:ext cx="6500858" cy="4852624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Добавление дополнительных наборов фигур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643702" y="5715016"/>
            <a:ext cx="1000132" cy="35719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1214414" y="1785926"/>
            <a:ext cx="1857388" cy="385765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57224" y="2285992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1</a:t>
            </a:r>
            <a:endParaRPr lang="ru-RU" b="1" dirty="0">
              <a:solidFill>
                <a:srgbClr val="C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86710" y="571501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solidFill>
                  <a:srgbClr val="C00000"/>
                </a:solidFill>
              </a:rPr>
              <a:t>2</a:t>
            </a:r>
            <a:endParaRPr lang="ru-RU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Библиотека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LocalNetwork.xml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Библиотека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LocalNetwork.xml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создана преподавателем и содержит условные обозначения элементов локальной вычислительной сети, которые необходимы для выполнения планов этажей.</a:t>
            </a:r>
          </a:p>
          <a:p>
            <a:pPr marL="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    	 - вентиляционный канал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	 - информационная розетка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	 - телекоммуникационный шкаф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	 - телекоммуникационная стойка.</a:t>
            </a:r>
          </a:p>
          <a:p>
            <a:pPr marL="0" indent="358775" algn="just">
              <a:lnSpc>
                <a:spcPct val="120000"/>
              </a:lnSpc>
              <a:spcBef>
                <a:spcPts val="2400"/>
              </a:spcBef>
              <a:buNone/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2400"/>
              </a:spcBef>
              <a:buNone/>
            </a:pPr>
            <a:endParaRPr lang="ru-RU" sz="8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7" name="Рисунок 6" descr="Вентиляционный канал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3714752"/>
            <a:ext cx="600079" cy="571504"/>
          </a:xfrm>
          <a:prstGeom prst="rect">
            <a:avLst/>
          </a:prstGeom>
        </p:spPr>
      </p:pic>
      <p:pic>
        <p:nvPicPr>
          <p:cNvPr id="8" name="Рисунок 7" descr="Информационная розетка.png"/>
          <p:cNvPicPr>
            <a:picLocks noChangeAspect="1"/>
          </p:cNvPicPr>
          <p:nvPr/>
        </p:nvPicPr>
        <p:blipFill>
          <a:blip r:embed="rId3"/>
          <a:srcRect l="8253" r="17476"/>
          <a:stretch>
            <a:fillRect/>
          </a:stretch>
        </p:blipFill>
        <p:spPr>
          <a:xfrm>
            <a:off x="785786" y="4357694"/>
            <a:ext cx="642942" cy="571504"/>
          </a:xfrm>
          <a:prstGeom prst="rect">
            <a:avLst/>
          </a:prstGeom>
        </p:spPr>
      </p:pic>
      <p:pic>
        <p:nvPicPr>
          <p:cNvPr id="9" name="Рисунок 8" descr="Телекоммуникационная стойка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86" y="5500702"/>
            <a:ext cx="600080" cy="571504"/>
          </a:xfrm>
          <a:prstGeom prst="rect">
            <a:avLst/>
          </a:prstGeom>
        </p:spPr>
      </p:pic>
      <p:pic>
        <p:nvPicPr>
          <p:cNvPr id="10" name="Рисунок 9" descr="Телекоммуникационный шкаф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86" y="4929198"/>
            <a:ext cx="600079" cy="57150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71472" y="6357958"/>
            <a:ext cx="7715304" cy="3606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 algn="just">
              <a:lnSpc>
                <a:spcPct val="120000"/>
              </a:lnSpc>
              <a:spcBef>
                <a:spcPts val="2400"/>
              </a:spcBef>
            </a:pPr>
            <a:r>
              <a:rPr lang="en-US" sz="1600" dirty="0" smtClean="0">
                <a:latin typeface="Arial" pitchFamily="34" charset="0"/>
                <a:cs typeface="Arial" pitchFamily="34" charset="0"/>
              </a:rPr>
              <a:t>*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Библиотеку можно скачать из папки КР на </a:t>
            </a:r>
            <a:r>
              <a:rPr lang="en-US" sz="1600" dirty="0" smtClean="0">
                <a:latin typeface="Arial" pitchFamily="34" charset="0"/>
                <a:cs typeface="Arial" pitchFamily="34" charset="0"/>
              </a:rPr>
              <a:t>Google </a:t>
            </a:r>
            <a:r>
              <a:rPr lang="ru-RU" sz="1600" dirty="0" smtClean="0">
                <a:latin typeface="Arial" pitchFamily="34" charset="0"/>
                <a:cs typeface="Arial" pitchFamily="34" charset="0"/>
              </a:rPr>
              <a:t>диске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Добавление библиотеки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LocalNetwork.xml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1285860"/>
            <a:ext cx="3694813" cy="5000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План этажа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План этажа – это горизонтальное сечение здания, которое выполнено на уровне нижней части оконного проема. На данном плане отображаются помещения этажа и их связь между собой, толщина стен, расположение и размеры дверных и оконных проемов, направление открытия дверей, расположение лестничных клеток, санузлов, иногда – мебели или оборудования.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Элементы на плане этажа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В рамках курсовой работы на плане каждого из этажей необходимо указать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тены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(помещений и коридоров)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дверные проемы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окна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лестницы (при наличии)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вентиляционные каналы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телекоммуникационные розетки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кабельные трассы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;</a:t>
            </a:r>
            <a:endParaRPr lang="ru-RU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телекоммуникационные стойки и шкафы.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Площадь рабочего места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Содержимое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Площадь рабочего места сотрудника указана в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СанПиН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2.2.2/2.4.1340-03 «Гигиенические требования к персональным электронно-вычислительным машинам и организации работы».</a:t>
            </a:r>
          </a:p>
          <a:p>
            <a:pPr marL="0" indent="358775" algn="just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200" i="1" dirty="0" smtClean="0">
                <a:latin typeface="Arial" pitchFamily="34" charset="0"/>
                <a:cs typeface="Arial" pitchFamily="34" charset="0"/>
              </a:rPr>
              <a:t>«Площадь на одно рабочее место пользователей ПЭВМ с </a:t>
            </a:r>
            <a:r>
              <a:rPr lang="ru-RU" sz="2200" i="1" dirty="0" err="1" smtClean="0">
                <a:latin typeface="Arial" pitchFamily="34" charset="0"/>
                <a:cs typeface="Arial" pitchFamily="34" charset="0"/>
              </a:rPr>
              <a:t>видеодисплейными</a:t>
            </a:r>
            <a:r>
              <a:rPr lang="ru-RU" sz="2200" i="1" dirty="0" smtClean="0">
                <a:latin typeface="Arial" pitchFamily="34" charset="0"/>
                <a:cs typeface="Arial" pitchFamily="34" charset="0"/>
              </a:rPr>
              <a:t> терминалами (ВДТ) всех типов … на базе плоских дискретных экранов (жидкокристаллические, плазменные) должна составлять не менее 4,5 м</a:t>
            </a:r>
            <a:r>
              <a:rPr lang="en-US" sz="2400" i="1" baseline="30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ru-RU" sz="2200" i="1" dirty="0" smtClean="0">
                <a:latin typeface="Arial" pitchFamily="34" charset="0"/>
                <a:cs typeface="Arial" pitchFamily="34" charset="0"/>
              </a:rPr>
              <a:t>.»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 данную площадь </a:t>
            </a:r>
            <a:r>
              <a:rPr lang="ru-RU" sz="2200" b="1" dirty="0" smtClean="0">
                <a:latin typeface="Arial" pitchFamily="34" charset="0"/>
                <a:cs typeface="Arial" pitchFamily="34" charset="0"/>
              </a:rPr>
              <a:t>не включаются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проходы между расставленными столами и участки помещения, занятые мебелью или оборудованием.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fontAlgn="base">
              <a:buNone/>
            </a:pPr>
            <a:endParaRPr lang="ru-RU" sz="2400" dirty="0" smtClean="0"/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Стены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6" name="Рисунок 5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1643050"/>
            <a:ext cx="7964335" cy="38575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Характеристики помещения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6" name="Содержимое 4"/>
          <p:cNvSpPr>
            <a:spLocks noGrp="1"/>
          </p:cNvSpPr>
          <p:nvPr>
            <p:ph sz="quarter" idx="1"/>
          </p:nvPr>
        </p:nvSpPr>
        <p:spPr>
          <a:xfrm>
            <a:off x="428596" y="1219200"/>
            <a:ext cx="8229600" cy="5638800"/>
          </a:xfrm>
        </p:spPr>
        <p:txBody>
          <a:bodyPr>
            <a:noAutofit/>
          </a:bodyPr>
          <a:lstStyle/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Рядом с каждым помещением на плане этажа должны присутствовать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номер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общая площадь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высота потолка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5600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Нумерация помещений осуществляется по часовой стрелке в формате «Номер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этажа+Номер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помещения».</a:t>
            </a:r>
          </a:p>
          <a:p>
            <a:pPr marL="0" indent="358775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Обозначение характеристик помещения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8" name="Рисунок 7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66" y="1285860"/>
            <a:ext cx="6241783" cy="48189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Двери, окна и лестницы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7" name="Рисунок 6" descr="7.png"/>
          <p:cNvPicPr>
            <a:picLocks noChangeAspect="1"/>
          </p:cNvPicPr>
          <p:nvPr/>
        </p:nvPicPr>
        <p:blipFill>
          <a:blip r:embed="rId2"/>
          <a:srcRect r="4347"/>
          <a:stretch>
            <a:fillRect/>
          </a:stretch>
        </p:blipFill>
        <p:spPr>
          <a:xfrm>
            <a:off x="571472" y="1714488"/>
            <a:ext cx="7858180" cy="372510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Вентиляционные каналы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5" name="Рисунок 4" descr="8.png"/>
          <p:cNvPicPr>
            <a:picLocks noChangeAspect="1"/>
          </p:cNvPicPr>
          <p:nvPr/>
        </p:nvPicPr>
        <p:blipFill>
          <a:blip r:embed="rId2"/>
          <a:srcRect r="1724"/>
          <a:stretch>
            <a:fillRect/>
          </a:stretch>
        </p:blipFill>
        <p:spPr>
          <a:xfrm>
            <a:off x="571472" y="2357430"/>
            <a:ext cx="8143932" cy="33495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71472" y="1214422"/>
            <a:ext cx="8072494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 algn="just">
              <a:lnSpc>
                <a:spcPct val="120000"/>
              </a:lnSpc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При выборе места размещения вентиляционных каналов на плане этажа необходимо учитывать, что рядом с ними будет выполнен межэтажный проход для кабельных трасс.</a:t>
            </a:r>
            <a:endParaRPr lang="ru-RU" dirty="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Телекоммуникационная розетка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Телекоммуникационная розетка – это устройство на рабочем месте для соединения стационарно установленной части кабельной системы и подвижных кабелей для подключения оборудования пользователя.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Она состоит из пластикового корпуса, в котором присутствует от одного до четырех разъемов для подключения конечных устройств. Наиболее распространенными являются телекоммуникационные розетки с одним или двумя разъемами. </a:t>
            </a:r>
          </a:p>
          <a:p>
            <a:pPr marL="0" indent="358775" algn="just">
              <a:lnSpc>
                <a:spcPct val="120000"/>
              </a:lnSpc>
              <a:buNone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lanportal.ru/wp-content/uploads/2019/03/%D0%BF%D1%80%D0%BF%D0%BE%D0%B3%D0%BF%D0%BE%D0%BB.jpg"/>
          <p:cNvPicPr>
            <a:picLocks noChangeAspect="1" noChangeArrowheads="1"/>
          </p:cNvPicPr>
          <p:nvPr/>
        </p:nvPicPr>
        <p:blipFill>
          <a:blip r:embed="rId2"/>
          <a:srcRect l="55046" t="2888" b="-297"/>
          <a:stretch>
            <a:fillRect/>
          </a:stretch>
        </p:blipFill>
        <p:spPr bwMode="auto">
          <a:xfrm>
            <a:off x="1571604" y="3857628"/>
            <a:ext cx="6089053" cy="250033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Внутренняя телекоммуникационная розетка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300" dirty="0" smtClean="0">
                <a:latin typeface="Arial" pitchFamily="34" charset="0"/>
                <a:cs typeface="Arial" pitchFamily="34" charset="0"/>
              </a:rPr>
              <a:t>При монтаже внутренней информационной розетки в предварительно подготовленное углубление в гипсокартонной стене или в кабель-канал устанавливается пластиковая коробка (</a:t>
            </a:r>
            <a:r>
              <a:rPr lang="ru-RU" sz="2300" dirty="0" err="1" smtClean="0">
                <a:latin typeface="Arial" pitchFamily="34" charset="0"/>
                <a:cs typeface="Arial" pitchFamily="34" charset="0"/>
              </a:rPr>
              <a:t>подрозетник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), в которую вставляется съемный </a:t>
            </a:r>
            <a:r>
              <a:rPr lang="ru-RU" sz="2300" dirty="0" err="1" smtClean="0">
                <a:latin typeface="Arial" pitchFamily="34" charset="0"/>
                <a:cs typeface="Arial" pitchFamily="34" charset="0"/>
              </a:rPr>
              <a:t>коннектор</a:t>
            </a:r>
            <a:r>
              <a:rPr lang="ru-RU" sz="2300" dirty="0" smtClean="0">
                <a:latin typeface="Arial" pitchFamily="34" charset="0"/>
                <a:cs typeface="Arial" pitchFamily="34" charset="0"/>
              </a:rPr>
              <a:t>, а сверху фиксируется наружная панель. </a:t>
            </a: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Внешняя телекоммуникационная розетка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Монтаж внешней телекоммуникационной розетки осуществляется на поверхности стены. Внешняя телекоммуникационная розетка сзади имеет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коннектор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с ножевыми контактами, пробивающими жилы витой пары через изоляцию.</a:t>
            </a: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4" descr="https://lanportal.ru/wp-content/uploads/2019/03/%D0%BF%D1%80%D0%BF%D0%BE%D0%B3%D0%BF%D0%BE%D0%BB.jpg"/>
          <p:cNvPicPr>
            <a:picLocks noChangeAspect="1" noChangeArrowheads="1"/>
          </p:cNvPicPr>
          <p:nvPr/>
        </p:nvPicPr>
        <p:blipFill>
          <a:blip r:embed="rId2"/>
          <a:srcRect r="45127"/>
          <a:stretch>
            <a:fillRect/>
          </a:stretch>
        </p:blipFill>
        <p:spPr bwMode="auto">
          <a:xfrm>
            <a:off x="1357290" y="3571876"/>
            <a:ext cx="6510354" cy="22482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Установка информационных розеток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3490" name="Picture 2" descr="https://masterdel.ru/pfiles/KostenkoKN/6b02006f29e395702218cb8796417fb3-ppage1000.jpg"/>
          <p:cNvPicPr>
            <a:picLocks noChangeAspect="1" noChangeArrowheads="1"/>
          </p:cNvPicPr>
          <p:nvPr/>
        </p:nvPicPr>
        <p:blipFill>
          <a:blip r:embed="rId2"/>
          <a:srcRect l="11484" t="20959" r="4065" b="17565"/>
          <a:stretch>
            <a:fillRect/>
          </a:stretch>
        </p:blipFill>
        <p:spPr bwMode="auto">
          <a:xfrm>
            <a:off x="3857620" y="1500174"/>
            <a:ext cx="4357718" cy="1785950"/>
          </a:xfrm>
          <a:prstGeom prst="rect">
            <a:avLst/>
          </a:prstGeom>
          <a:noFill/>
        </p:spPr>
      </p:pic>
      <p:pic>
        <p:nvPicPr>
          <p:cNvPr id="63492" name="Picture 4" descr="https://yandex-images.naydex.net/ug561Uf32/9c30deCSn/5jGKnCTuyfFCLuQgECobwr5NncY-YtTwbNxeKZt2CcanqzW-WSevIDhKMBeq611Az4XN2iWMMEpWSzkuMkwNkuMwh_Ed2tjgFye4lQkaJrbqELCSAmbJ3AT9CziiD1DS8oZo15l7nyk1F4QHqvMh_GcJtAbROZz7juLcB2sUFOPXSY-h5S_NsZJitCg5zqvCL33xhkZeHF2MvPoYG_bN_4tvaYI5m6ulsdc9Grcaqcg7qajWIZ3IG44iPPt79EAfls33EbVmRYFSRmgIyc43FjNBbaoSSnTJXNTCEI-CGY9DfyUyGa9fvS0_zab3ngXII1loVqmRTOuanjgD95Dcn_Zpp0EVsvml8s4AKA06G2LrISHKmpYcIYTMElS7NhFDi_eVHrWLe3kdv81mXxbdkE89-K5hXXS7KmqsS9eIgGsG5ZfdsW55jZZSRGQZum-WS2Wdhg5-IHlAoGLMu86NL9ebhUptg6OdEc9lHtcuMdzzNRQquUWER8b6sN-HnJhHApnDcfFqyTWGpihISSLzCr-VOVqy2uRFbDAKdOdimbM_jzWmOb8zGTnfsVYDBtWk1z1QUjmVhAOeYtwnu2hsWyZFJyXZWtU5fto8_Gkqb34XwRnOtnbIVVxg1qzrTolDH1eFSnn3C2lVxzXyNwpR0PMJuMrppfyHBprYO9NoYGdeGXupyYrFcWYq_Hxlmo9CWx1JBlpu-CnIuJY490oxHysj9R6JM9vJZa_phgt67ayPTezOqYHs877ijO8rxBwXGuHP3YVi2S3CTiBgPT77aqu1rRaWttBRTPTi2H8iWXNHlwUaMVfzGT3TtXbXJiEsr9VkIr0JsDf2enTzc7yclwohD9lBFpkBjm5cfJW-y7Y3Mb3m7lbISdx8QtQX9gXP359BEn1r242RHzmqK2IlGPMdiOYxibwDQvbAM4fMGOcOVevp_YbpnYYywCAJHoPas8W9ztIiRIF4YIps58a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928802"/>
            <a:ext cx="2998569" cy="3024161"/>
          </a:xfrm>
          <a:prstGeom prst="rect">
            <a:avLst/>
          </a:prstGeom>
          <a:noFill/>
        </p:spPr>
      </p:pic>
      <p:pic>
        <p:nvPicPr>
          <p:cNvPr id="63494" name="Picture 6" descr="https://www.ecolan.ru/data/reference/photo/289/logo/logo_289.jpg"/>
          <p:cNvPicPr>
            <a:picLocks noChangeAspect="1" noChangeArrowheads="1"/>
          </p:cNvPicPr>
          <p:nvPr/>
        </p:nvPicPr>
        <p:blipFill>
          <a:blip r:embed="rId4"/>
          <a:srcRect l="4186" t="28750" r="9301" b="23750"/>
          <a:stretch>
            <a:fillRect/>
          </a:stretch>
        </p:blipFill>
        <p:spPr bwMode="auto">
          <a:xfrm>
            <a:off x="3857620" y="3643314"/>
            <a:ext cx="4429156" cy="182389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Телекоммуникационная розетка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7" name="Рисунок 6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1928802"/>
            <a:ext cx="8143900" cy="3294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Кабельная трасса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dirty="0" smtClean="0">
                <a:latin typeface="Arial" pitchFamily="34" charset="0"/>
                <a:cs typeface="Arial" pitchFamily="34" charset="0"/>
              </a:rPr>
              <a:t>Кабельная трасса – это совокупность конструкционных элементов, предназначенных для  прокладки, фиксирования в необходимом положении и последующего хранения различных типов кабелей.</a:t>
            </a:r>
          </a:p>
          <a:p>
            <a:pPr marL="0" indent="358775" algn="just">
              <a:lnSpc>
                <a:spcPct val="120000"/>
              </a:lnSpc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endParaRPr lang="ru-RU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Открытый тип прокладки кабельной трассы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20000"/>
              </a:lnSpc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Открытый тип прокладки кабельной трассы осуществляется открыто или в специализированных конструкциях, которые защищают кабель  от внешних воздействий (влаги, перепадов температур, механических повреждений).</a:t>
            </a:r>
          </a:p>
          <a:p>
            <a:pPr marL="0" indent="365125" algn="just" fontAlgn="t">
              <a:lnSpc>
                <a:spcPct val="120000"/>
              </a:lnSpc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Типы используемых конструкций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65125" algn="just" fontAlgn="t">
              <a:lnSpc>
                <a:spcPct val="12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тальные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, пластиковые, асбестоцементные трубы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65125" algn="just" fontAlgn="t">
              <a:lnSpc>
                <a:spcPct val="120000"/>
              </a:lnSpc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гофрированные пластиковые изделия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;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65125" algn="just" fontAlgn="t">
              <a:lnSpc>
                <a:spcPct val="120000"/>
              </a:lnSpc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лотки и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кабель-каналы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365125" algn="just" fontAlgn="t">
              <a:lnSpc>
                <a:spcPct val="120000"/>
              </a:lnSpc>
              <a:buNone/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В зависимости от ориентации специализированных конструкций в пространстве различают горизонтальную и вертикальную прокладку кабельной трассы.</a:t>
            </a:r>
          </a:p>
          <a:p>
            <a:pPr marL="0" indent="365125" algn="just" fontAlgn="t">
              <a:lnSpc>
                <a:spcPct val="140000"/>
              </a:lnSpc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endParaRPr lang="ru-RU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Лоток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4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Лоток — это открытая конструкция, изготовленная из пластика или металла и прикрепляющаяся к стене по аналогии с полкой. </a:t>
            </a:r>
          </a:p>
          <a:p>
            <a:pPr marL="0" indent="365125" algn="just" fontAlgn="t">
              <a:lnSpc>
                <a:spcPct val="140000"/>
              </a:lnSpc>
              <a:buNone/>
            </a:pP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2" descr="https://n-kabel.ru/img/cms/new/New%20folder/%D0%BF%D1%80%D0%BE%D0%BA%D0%BB%D0%B0%D0%B4%D0%BA%D0%B0%20%D0%BA%D0%B0%D0%B1%D0%B5%D0%BB%D1%8F%20%D0%B2%20%D0%B7%D0%B4%D0%B0%D0%BD%D0%B8%D1%8F%D1%85.jpg"/>
          <p:cNvPicPr>
            <a:picLocks noChangeAspect="1" noChangeArrowheads="1"/>
          </p:cNvPicPr>
          <p:nvPr/>
        </p:nvPicPr>
        <p:blipFill>
          <a:blip r:embed="rId2"/>
          <a:srcRect b="630"/>
          <a:stretch>
            <a:fillRect/>
          </a:stretch>
        </p:blipFill>
        <p:spPr bwMode="auto">
          <a:xfrm>
            <a:off x="2428860" y="2857496"/>
            <a:ext cx="4357718" cy="32477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Кабель-канал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4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Кабель-канал — это закрытая конструкция, изготовленная из пластика и прикрепляющаяся к стенам, потолку или полу. </a:t>
            </a:r>
          </a:p>
          <a:p>
            <a:pPr marL="0" indent="358775" algn="just">
              <a:lnSpc>
                <a:spcPct val="120000"/>
              </a:lnSpc>
              <a:buNone/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4" descr="https://it-khv.ru/upload/medialibrary/631/63198dbf80e1ad5960c8c2cd6b6999ee.jpg"/>
          <p:cNvPicPr>
            <a:picLocks noChangeAspect="1" noChangeArrowheads="1"/>
          </p:cNvPicPr>
          <p:nvPr/>
        </p:nvPicPr>
        <p:blipFill>
          <a:blip r:embed="rId2"/>
          <a:srcRect l="27336" t="20329" r="8762" b="14608"/>
          <a:stretch>
            <a:fillRect/>
          </a:stretch>
        </p:blipFill>
        <p:spPr bwMode="auto">
          <a:xfrm>
            <a:off x="4714876" y="3000372"/>
            <a:ext cx="3929090" cy="3000396"/>
          </a:xfrm>
          <a:prstGeom prst="rect">
            <a:avLst/>
          </a:prstGeom>
          <a:noFill/>
        </p:spPr>
      </p:pic>
      <p:pic>
        <p:nvPicPr>
          <p:cNvPr id="7" name="Picture 6" descr="https://pro-click.ru/image/cache/catalog/Kartinki/Profil-kabel-kanal-PK-62-584x435.jpg"/>
          <p:cNvPicPr>
            <a:picLocks noChangeAspect="1" noChangeArrowheads="1"/>
          </p:cNvPicPr>
          <p:nvPr/>
        </p:nvPicPr>
        <p:blipFill>
          <a:blip r:embed="rId3"/>
          <a:srcRect l="5011" t="6728"/>
          <a:stretch>
            <a:fillRect/>
          </a:stretch>
        </p:blipFill>
        <p:spPr bwMode="auto">
          <a:xfrm>
            <a:off x="500034" y="3000372"/>
            <a:ext cx="4062402" cy="29712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Размер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кабель-канала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Размер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кабель-канала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зависит от количества  кабелей, которые допустимо разместить в нем.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365125" algn="just" fontAlgn="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Калькулятор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https://www.elec.ru/calculators/box-occupancy/</a:t>
            </a:r>
          </a:p>
          <a:p>
            <a:pPr marL="0" indent="365125" algn="just" fontAlgn="t">
              <a:lnSpc>
                <a:spcPct val="140000"/>
              </a:lnSpc>
              <a:buNone/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0" y="3000372"/>
            <a:ext cx="4857784" cy="3192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Скрытый тип прокладки кабельной трассы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40000"/>
              </a:lnSpc>
              <a:buNone/>
            </a:pPr>
            <a:r>
              <a:rPr lang="ru-RU" sz="1700" dirty="0" smtClean="0">
                <a:latin typeface="Arial" pitchFamily="34" charset="0"/>
                <a:cs typeface="Arial" pitchFamily="34" charset="0"/>
              </a:rPr>
              <a:t>Скрытый тип прокладки кабельной трассы предполагает размещение кабелей внутри стен, полов, потолков, под отделочными материалами. Он используется при строительстве дома или капитальном ремонте.</a:t>
            </a:r>
          </a:p>
          <a:p>
            <a:pPr marL="0" indent="365125" algn="just" fontAlgn="t">
              <a:lnSpc>
                <a:spcPct val="140000"/>
              </a:lnSpc>
            </a:pPr>
            <a:r>
              <a:rPr lang="ru-RU" sz="1700" dirty="0" err="1" smtClean="0">
                <a:latin typeface="Arial" pitchFamily="34" charset="0"/>
                <a:cs typeface="Arial" pitchFamily="34" charset="0"/>
              </a:rPr>
              <a:t>Штробы</a:t>
            </a:r>
            <a:r>
              <a:rPr lang="ru-RU" sz="1700" dirty="0" smtClean="0">
                <a:latin typeface="Arial" pitchFamily="34" charset="0"/>
                <a:cs typeface="Arial" pitchFamily="34" charset="0"/>
              </a:rPr>
              <a:t>. По предварительно выполненной разметке </a:t>
            </a:r>
            <a:r>
              <a:rPr lang="ru-RU" sz="1700" dirty="0" err="1" smtClean="0">
                <a:latin typeface="Arial" pitchFamily="34" charset="0"/>
                <a:cs typeface="Arial" pitchFamily="34" charset="0"/>
              </a:rPr>
              <a:t>штробят</a:t>
            </a:r>
            <a:r>
              <a:rPr lang="ru-RU" sz="1700" dirty="0" smtClean="0">
                <a:latin typeface="Arial" pitchFamily="34" charset="0"/>
                <a:cs typeface="Arial" pitchFamily="34" charset="0"/>
              </a:rPr>
              <a:t> стены, потолок, пол перфоратором в режиме долбления. Кабели прокладывают в получаемых углублениях без использования дополнительных элементов или с применением стальных или гофрированных труб, после чего их заштукатуривают.</a:t>
            </a: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12" descr="https://i.simpalsmedia.com/999.md/BoardImages/900x900/c0fe8e3246264dc797383209071f29ee.jpg"/>
          <p:cNvPicPr>
            <a:picLocks noChangeAspect="1" noChangeArrowheads="1"/>
          </p:cNvPicPr>
          <p:nvPr/>
        </p:nvPicPr>
        <p:blipFill>
          <a:blip r:embed="rId2"/>
          <a:srcRect l="12152" t="19605" r="-5196"/>
          <a:stretch>
            <a:fillRect/>
          </a:stretch>
        </p:blipFill>
        <p:spPr bwMode="auto">
          <a:xfrm>
            <a:off x="2857488" y="4257254"/>
            <a:ext cx="3357586" cy="1994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Скрытый тип прокладки кабельной трассы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365125" algn="just" fontAlgn="t">
              <a:lnSpc>
                <a:spcPct val="140000"/>
              </a:lnSpc>
            </a:pPr>
            <a:r>
              <a:rPr lang="ru-RU" sz="1700" dirty="0" smtClean="0">
                <a:latin typeface="Arial" pitchFamily="34" charset="0"/>
                <a:cs typeface="Arial" pitchFamily="34" charset="0"/>
              </a:rPr>
              <a:t>Стяжка пола. Проложенный кабель заливают специальным раствором или заделывают штукатуркой, при этом рекомендуется поместить провода в стальную  или гофрированную трубу.</a:t>
            </a:r>
          </a:p>
          <a:p>
            <a:pPr marL="0" indent="365125" algn="just" fontAlgn="t">
              <a:lnSpc>
                <a:spcPct val="140000"/>
              </a:lnSpc>
            </a:pPr>
            <a:r>
              <a:rPr lang="ru-RU" sz="1700" dirty="0" smtClean="0">
                <a:latin typeface="Arial" pitchFamily="34" charset="0"/>
                <a:cs typeface="Arial" pitchFamily="34" charset="0"/>
              </a:rPr>
              <a:t>Подвесной потолок. Кабель прокладывается в гофрированной трубе над подвесным потолком.</a:t>
            </a:r>
            <a:endParaRPr lang="ru-RU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Picture 4" descr="https://bestelektrik.ru/data/uploads/portfolio/rabota/borisovskie-prud-10-1/img_518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3344440"/>
            <a:ext cx="3500462" cy="2625347"/>
          </a:xfrm>
          <a:prstGeom prst="rect">
            <a:avLst/>
          </a:prstGeom>
          <a:noFill/>
        </p:spPr>
      </p:pic>
      <p:pic>
        <p:nvPicPr>
          <p:cNvPr id="7" name="Picture 2" descr="https://ekb.it01.su/uploads/images/lvs-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8" y="3357562"/>
            <a:ext cx="3524274" cy="26432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Кабельные трассы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36</a:t>
            </a:fld>
            <a:endParaRPr lang="ru-RU"/>
          </a:p>
        </p:txBody>
      </p:sp>
      <p:pic>
        <p:nvPicPr>
          <p:cNvPr id="31" name="Рисунок 30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90" y="2571744"/>
            <a:ext cx="6647620" cy="3571429"/>
          </a:xfrm>
          <a:prstGeom prst="rect">
            <a:avLst/>
          </a:prstGeom>
        </p:spPr>
      </p:pic>
      <p:sp>
        <p:nvSpPr>
          <p:cNvPr id="33" name="Содержимое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>
            <a:noAutofit/>
          </a:bodyPr>
          <a:lstStyle/>
          <a:p>
            <a:pPr marL="0" indent="365125" algn="just" fontAlgn="t">
              <a:lnSpc>
                <a:spcPct val="140000"/>
              </a:lnSpc>
              <a:buNone/>
            </a:pPr>
            <a:r>
              <a:rPr lang="ru-RU" sz="1700" dirty="0" smtClean="0">
                <a:latin typeface="Arial" pitchFamily="34" charset="0"/>
                <a:cs typeface="Arial" pitchFamily="34" charset="0"/>
              </a:rPr>
              <a:t>На рисунке изображена прокладка кабельных трасс из помещений 1101-1104 до помещения 1105, в котором расположена серверная. Кабель «витая пара» протянут к каждой телекоммуникационной розетке.</a:t>
            </a:r>
            <a:endParaRPr lang="ru-RU" sz="17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Телекоммуникационная стойка и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шкаф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Телекоммуникационная стойка – это металлический напольный стеллаж, предназначенный для размещения в нем сетевого оборудования.</a:t>
            </a:r>
            <a:endParaRPr lang="en-US" sz="21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Телекоммуникационный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шкаф –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это металлический напольный или навесной  бокс,  предназначенный для размещения в нем сетевого оборудования.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Высоту телекоммуникационной стойки и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шкафа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указывают в </a:t>
            </a:r>
            <a:r>
              <a:rPr lang="ru-RU" sz="2100" dirty="0" err="1" smtClean="0">
                <a:latin typeface="Arial" pitchFamily="34" charset="0"/>
                <a:cs typeface="Arial" pitchFamily="34" charset="0"/>
              </a:rPr>
              <a:t>юнитах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. Один </a:t>
            </a:r>
            <a:r>
              <a:rPr lang="ru-RU" sz="2100" dirty="0" err="1" smtClean="0">
                <a:latin typeface="Arial" pitchFamily="34" charset="0"/>
                <a:cs typeface="Arial" pitchFamily="34" charset="0"/>
              </a:rPr>
              <a:t>юнит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 составляет 44,45 миллиметра, т.е.1,75 дюйма.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100" dirty="0" smtClean="0">
                <a:latin typeface="Arial" pitchFamily="34" charset="0"/>
                <a:cs typeface="Arial" pitchFamily="34" charset="0"/>
              </a:rPr>
              <a:t>Высота стойки – 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42U,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высота монтажного шкафа –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4,6,8,</a:t>
            </a:r>
            <a:br>
              <a:rPr lang="ru-RU" sz="2100" dirty="0" smtClean="0">
                <a:latin typeface="Arial" pitchFamily="34" charset="0"/>
                <a:cs typeface="Arial" pitchFamily="34" charset="0"/>
              </a:rPr>
            </a:br>
            <a:r>
              <a:rPr lang="ru-RU" sz="2100" dirty="0" smtClean="0">
                <a:latin typeface="Arial" pitchFamily="34" charset="0"/>
                <a:cs typeface="Arial" pitchFamily="34" charset="0"/>
              </a:rPr>
              <a:t>9,12,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15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,18 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U</a:t>
            </a:r>
            <a:r>
              <a:rPr lang="en-US" sz="21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 Стандартное сетевое оборудование доступно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в конфигурациях </a:t>
            </a:r>
            <a:r>
              <a:rPr lang="ru-RU" sz="2100" dirty="0" smtClean="0">
                <a:latin typeface="Arial" pitchFamily="34" charset="0"/>
                <a:cs typeface="Arial" pitchFamily="34" charset="0"/>
              </a:rPr>
              <a:t>1U, 2U, 4U, 5U и 6U.</a:t>
            </a:r>
            <a:endParaRPr lang="ru-RU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Внешний вид стойки и 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шкафов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 descr="776666.jpg"/>
          <p:cNvPicPr>
            <a:picLocks noChangeAspect="1"/>
          </p:cNvPicPr>
          <p:nvPr/>
        </p:nvPicPr>
        <p:blipFill>
          <a:blip r:embed="rId2" cstate="print"/>
          <a:srcRect l="17857" t="4024" r="22619" b="1928"/>
          <a:stretch>
            <a:fillRect/>
          </a:stretch>
        </p:blipFill>
        <p:spPr>
          <a:xfrm>
            <a:off x="899593" y="1268760"/>
            <a:ext cx="3175798" cy="5017760"/>
          </a:xfrm>
          <a:prstGeom prst="rect">
            <a:avLst/>
          </a:prstGeom>
        </p:spPr>
      </p:pic>
      <p:pic>
        <p:nvPicPr>
          <p:cNvPr id="8" name="Рисунок 7" descr="Монтажный шкаф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148064" y="1556792"/>
            <a:ext cx="2541459" cy="2376264"/>
          </a:xfrm>
          <a:prstGeom prst="rect">
            <a:avLst/>
          </a:prstGeom>
        </p:spPr>
      </p:pic>
      <p:pic>
        <p:nvPicPr>
          <p:cNvPr id="9" name="Рисунок 8" descr="Шкафы напольные телекоммуникационные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55976" y="4286256"/>
            <a:ext cx="4260736" cy="187773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Пример размещения оборудования в монтажном шкафу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4274" name="Picture 2" descr="https://a.allegroimg.com/s720/036010/9c159e1140edaf13d54f9e87e9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214422"/>
            <a:ext cx="6215058" cy="46612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Пример размещения оборудования в телекоммуникационной стойке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3490" name="Picture 2" descr="http://ixbt.photo/photo/702256/62896SxpkXk0pS7/1306581w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1428736"/>
            <a:ext cx="7120119" cy="4714908"/>
          </a:xfrm>
          <a:prstGeom prst="rect">
            <a:avLst/>
          </a:prstGeom>
          <a:noFill/>
        </p:spPr>
      </p:pic>
      <p:sp>
        <p:nvSpPr>
          <p:cNvPr id="16386" name="AutoShape 2" descr="https://lan-art.ru/upload/%D0%98%D1%81%D0%BF%D0%BE%D0%BB%D1%8C%D0%B7%D0%BE%D0%B2%D0%B0%D0%BD%D0%B8%D0%B5%20%D0%BE%D1%80%D0%B3%D0%B0%D0%BD%D0%B0%D0%B9%D0%B7%D0%B5%D1%80%D0%BE%D0%B2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6388" name="AutoShape 4" descr="https://lan-art.ru/upload/%D0%98%D1%81%D0%BF%D0%BE%D0%BB%D1%8C%D0%B7%D0%BE%D0%B2%D0%B0%D0%BD%D0%B8%D0%B5%20%D0%BE%D1%80%D0%B3%D0%B0%D0%BD%D0%B0%D0%B9%D0%B7%D0%B5%D1%80%D0%BE%D0%B2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Монтажный шкаф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3" y="1428736"/>
            <a:ext cx="8001056" cy="4280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Телекоммуникационная стойка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42</a:t>
            </a:fld>
            <a:endParaRPr lang="ru-RU"/>
          </a:p>
        </p:txBody>
      </p:sp>
      <p:pic>
        <p:nvPicPr>
          <p:cNvPr id="42" name="Рисунок 4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538" y="1714488"/>
            <a:ext cx="7231898" cy="3884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3. Выбор топологии и компонентов ЛВС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0" indent="358775" algn="just">
              <a:lnSpc>
                <a:spcPct val="14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Теоретическая часть с описанием всех компонентов ЛВС.</a:t>
            </a:r>
          </a:p>
          <a:p>
            <a:pPr marL="0" indent="358775" algn="just">
              <a:lnSpc>
                <a:spcPct val="14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топологии ЛВС (рассмотреть несколько вариантов топологий, аргументировать окончательный выбор путем анализа достоинств и недостатков каждой топологии).</a:t>
            </a:r>
          </a:p>
          <a:p>
            <a:pPr marL="0" indent="358775" algn="just">
              <a:lnSpc>
                <a:spcPct val="14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конечных устройств (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компьютеры и иные конечные устройства).</a:t>
            </a:r>
            <a:endParaRPr lang="ru-RU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4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типов кабелей для соединения компонентов ЛВС внутри здания и между зданиями (рассмотреть несколько вариантов типов кабелей, аргументировать окончательный выбор путем анализа достоинств и недостатков каждого типа кабеля).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Для выбранных кабелей указать производителя, тип/категорию и количество пар, способ прокладки, типы соединяемых компонентов ЛВС.</a:t>
            </a:r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4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телекоммуникационных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розеток (производитель, количество портов),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кабель-каналов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(производитель, размеры),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гофротруб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(производитель, диаметр).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3. Выбор топологии и компонентов ЛВС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телекоммуникационных стоек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и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шкафов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(производитель, размеры (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ШхВхГ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, количество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юнитов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)).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промежуточных узлов (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тип оборудования, производитель (аргументировать выбор),  количество портов, местоположение в здании).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серверного оборудования (функции, производитель (аргументировать выбор), местоположение в здании).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Выбор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SFP-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модулей (производитель, местоположение в коммутационном оборудовании),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патч-панелей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(производитель, количество портов, местоположение в здании), источников бесперебойного питания (производитель, характеристики, местоположение в здании), блоков электрических розеток.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Патч-панель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Патч-панель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– это пассивное сетевое оборудование, которое предназначено для передачи информации в ЛВС и для удобства коммутации между промежуточными и конечными узлами.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Патч-панель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имеет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коммутационнную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и монтажную рабочие области.</a:t>
            </a:r>
          </a:p>
          <a:p>
            <a:pPr marL="0" indent="358775" algn="just">
              <a:lnSpc>
                <a:spcPct val="120000"/>
              </a:lnSpc>
              <a:buNone/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4515" name="Picture 3"/>
          <p:cNvPicPr>
            <a:picLocks noChangeAspect="1" noChangeArrowheads="1"/>
          </p:cNvPicPr>
          <p:nvPr/>
        </p:nvPicPr>
        <p:blipFill>
          <a:blip r:embed="rId3"/>
          <a:srcRect l="8272" t="18750" r="10468" b="45117"/>
          <a:stretch>
            <a:fillRect/>
          </a:stretch>
        </p:blipFill>
        <p:spPr bwMode="auto">
          <a:xfrm>
            <a:off x="714348" y="3929066"/>
            <a:ext cx="7929618" cy="1982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Рабочие области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патч-панели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46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Коммутационная область с разъемами 8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P8C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расположена на лицевой стороне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патч-панели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и предназначена для быстрой коммутации сетевого соединения с помощью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патч-кордов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Монтажная область расположена на задней стороне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патч-панели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. На ней находятся контакты IDC (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Insulation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Displacement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Connection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– «соединение со смещением изоляции») с цветовой маркировкой Т568А и T568В, предназначенные для подключения кабеля. 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Патч-панель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имеет 8, 12, 16, 24, 32 или 48 портов. В зависимости от количества портов высота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патч-панели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составляет 1U (16 и 24 порта) и 2U (32 и 48 портов).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latin typeface="Arial" pitchFamily="34" charset="0"/>
                <a:cs typeface="Arial" pitchFamily="34" charset="0"/>
              </a:rPr>
              <a:t>Патч-панель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в телекоммуникационном шкафу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72" y="1428736"/>
            <a:ext cx="4086031" cy="4357694"/>
          </a:xfrm>
          <a:prstGeom prst="rect">
            <a:avLst/>
          </a:prstGeom>
        </p:spPr>
      </p:pic>
      <p:pic>
        <p:nvPicPr>
          <p:cNvPr id="9" name="Рисунок 8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8" y="1428736"/>
            <a:ext cx="3556704" cy="438160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4. Расчет количества компонентов ЛВС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конечных устройств (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компьютеры и иные конечные устройства).</a:t>
            </a:r>
            <a:endParaRPr lang="ru-RU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Метраж выбранных кабелей, количество и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длина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патч-кордов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.</a:t>
            </a:r>
            <a:endParaRPr lang="en-US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телекоммуникационных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розеток (в зависимости от количества портов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).</a:t>
            </a:r>
            <a:endParaRPr lang="ru-RU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Метраж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кабель-каналов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 и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гофротруб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телекоммуникационных стоек и шкафов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промежуточного 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оборудования (с указанием типа и количества портов).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серверного оборудования.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200" dirty="0" smtClean="0">
                <a:latin typeface="Arial" pitchFamily="34" charset="0"/>
                <a:cs typeface="Arial" pitchFamily="34" charset="0"/>
              </a:rPr>
              <a:t>Количество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SFP-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модулей, </a:t>
            </a:r>
            <a:r>
              <a:rPr lang="ru-RU" sz="2200" dirty="0" err="1" smtClean="0">
                <a:latin typeface="Arial" pitchFamily="34" charset="0"/>
                <a:cs typeface="Arial" pitchFamily="34" charset="0"/>
              </a:rPr>
              <a:t>патч-панелей</a:t>
            </a:r>
            <a:r>
              <a:rPr lang="ru-RU" sz="2200" dirty="0" smtClean="0">
                <a:latin typeface="Arial" pitchFamily="34" charset="0"/>
                <a:cs typeface="Arial" pitchFamily="34" charset="0"/>
              </a:rPr>
              <a:t>, источников бесперебойного питания, блоков электрических розеток.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2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Глава 5. Адресация в ЛВС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Теоретическая информация о технологии бесклассовой </a:t>
            </a:r>
            <a:r>
              <a:rPr lang="ru-RU" sz="2000" dirty="0" err="1" smtClean="0">
                <a:latin typeface="Arial" pitchFamily="34" charset="0"/>
                <a:cs typeface="Arial" pitchFamily="34" charset="0"/>
              </a:rPr>
              <a:t>междоменной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 маршрутизации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Адресация для ЛВС в табличном виде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: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98525" indent="-277813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Номер здания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98525" indent="-277813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Название подразделения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98525" indent="-277813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Число рабочих мест и количество сетевого периферийного оборудования в подразделении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898525" indent="-277813" algn="just">
              <a:lnSpc>
                <a:spcPct val="120000"/>
              </a:lnSpc>
              <a:buBlip>
                <a:blip r:embed="rId2"/>
              </a:buBlip>
            </a:pPr>
            <a:r>
              <a:rPr lang="ru-RU" sz="20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адресов для подразделения с указанием количества используемых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-адресов и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адресов, находящихся в резерве. В 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IP-</a:t>
            </a:r>
            <a:r>
              <a:rPr lang="ru-RU" sz="2000" dirty="0" smtClean="0">
                <a:latin typeface="Arial" pitchFamily="34" charset="0"/>
                <a:cs typeface="Arial" pitchFamily="34" charset="0"/>
              </a:rPr>
              <a:t>адресов включаются адрес сети и широковещательный адрес, а также адрес промежуточного устройства (при наличии). 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Технология бесклассовой </a:t>
            </a:r>
            <a:r>
              <a:rPr lang="ru-RU" dirty="0" err="1" smtClean="0">
                <a:latin typeface="Arial" pitchFamily="34" charset="0"/>
                <a:cs typeface="Arial" pitchFamily="34" charset="0"/>
              </a:rPr>
              <a:t>междоменной</a:t>
            </a:r>
            <a:r>
              <a:rPr lang="ru-RU" dirty="0" smtClean="0">
                <a:latin typeface="Arial" pitchFamily="34" charset="0"/>
                <a:cs typeface="Arial" pitchFamily="34" charset="0"/>
              </a:rPr>
              <a:t> маршрутизации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358775" algn="just">
              <a:lnSpc>
                <a:spcPct val="13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Технология бесклассовой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междоменной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маршрутизации (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Classless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Inter-Domain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Routing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, CIDR) игнорирует понятие класса сети и основана исключительно на старших разрядах IP-адреса, которые называются сетевым префиксом.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3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Для определения границ между номером сети и номером хоста в IP-адресе не проверяются первые старшие биты в IP-адресе с целью определения класса, а анализируется сетевой префикс. Длина сетевого префикса позволяет определить число старших битов, соответствующих номеру сети. В результате технология поддерживает организацию сетей произвольного размера, а не сетей со стандартными номерами сетей, которые ассоциируются с классами. 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" pitchFamily="34" charset="0"/>
                <a:cs typeface="Arial" pitchFamily="34" charset="0"/>
              </a:rPr>
              <a:t>Правила при представлении пула IP-адресов 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Принципиально важным является соблюдение ряда правил при представлении пула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-адресов в виде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Р/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0"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сетевой префикс содержит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старших двоичных разрядов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Р-адреса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;</a:t>
            </a:r>
          </a:p>
          <a:p>
            <a:pPr marL="0"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номер хоста включает (32-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) младших двоичных разрядов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ru-RU" sz="2400" dirty="0" err="1" smtClean="0">
                <a:latin typeface="Arial" pitchFamily="34" charset="0"/>
                <a:cs typeface="Arial" pitchFamily="34" charset="0"/>
              </a:rPr>
              <a:t>Р-адреса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; </a:t>
            </a:r>
          </a:p>
          <a:p>
            <a:pPr marL="0"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первом по порядку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-адресе двоичные разряды номера хоста должны состоять только из нулей; </a:t>
            </a:r>
          </a:p>
          <a:p>
            <a:pPr marL="0" indent="358775" algn="just">
              <a:lnSpc>
                <a:spcPct val="120000"/>
              </a:lnSpc>
              <a:buFont typeface="Wingdings" pitchFamily="2" charset="2"/>
              <a:buChar char="Ø"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количество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-адресов в пуле равно 2</a:t>
            </a:r>
            <a:r>
              <a:rPr lang="ru-RU" sz="2400" baseline="50000" dirty="0" smtClean="0">
                <a:latin typeface="Arial" pitchFamily="34" charset="0"/>
                <a:cs typeface="Arial" pitchFamily="34" charset="0"/>
              </a:rPr>
              <a:t>(32-</a:t>
            </a:r>
            <a:r>
              <a:rPr lang="en-US" sz="2400" baseline="50000" dirty="0" smtClean="0">
                <a:latin typeface="Arial" pitchFamily="34" charset="0"/>
                <a:cs typeface="Arial" pitchFamily="34" charset="0"/>
              </a:rPr>
              <a:t>n</a:t>
            </a:r>
            <a:r>
              <a:rPr lang="ru-RU" sz="2400" baseline="50000" dirty="0" smtClean="0">
                <a:latin typeface="Arial" pitchFamily="34" charset="0"/>
                <a:cs typeface="Arial" pitchFamily="34" charset="0"/>
              </a:rPr>
              <a:t>)</a:t>
            </a:r>
            <a:r>
              <a:rPr lang="ru-RU" sz="2400" baseline="30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4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Разбиение адресного пространства с использованием технологии CIDR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Организации выделен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199.9.16.0/20. Необходимо разделить данный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между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отделами организации таким образом, что обеспечить адресацию 1500 хостов в первом отделе, 800 хостов во втором отделе, 400 хостов в третьем отделе и 350 хостов в четвертом отделе.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Решение. 1-ый этап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На первом этапе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199.9.16.0/20 разделяется на две равные части путем увеличения длины сетевого префикса на единицу. Тогда в каждом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на адресацию хостов отводится 2</a:t>
            </a:r>
            <a:r>
              <a:rPr lang="ru-RU" sz="2400" baseline="30000" dirty="0" smtClean="0">
                <a:latin typeface="Arial" pitchFamily="34" charset="0"/>
                <a:cs typeface="Arial" pitchFamily="34" charset="0"/>
              </a:rPr>
              <a:t>11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-2 или 2046 IP-адресов.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двоичной системе счисления IP-адрес 199.9.16.0 имеет вид: 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11000111 00001001 00010000 00000000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После увеличения длины сетевого префикса образуются два IP-адреса вида: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11000111 00001001 00010000 00000000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11000111 00001001 00011000 00000000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десятичной системе счисления данные IP-адреса записываются как 199.9.16.0 и 199.9.24.0.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для первого отдела представляется как 199.9.16.0/21,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199.9.24.0/21 используется для дальнейшего разбиения.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Решение. 2-ой этап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На втором этапе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199.9.24.0/21 разделяется на две равные части путем увеличения длины сетевого префикса на единицу. Тогда в каждом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на адресацию хостов отводится 2</a:t>
            </a:r>
            <a:r>
              <a:rPr lang="ru-RU" sz="2400" baseline="30000" dirty="0" smtClean="0">
                <a:latin typeface="Arial" pitchFamily="34" charset="0"/>
                <a:cs typeface="Arial" pitchFamily="34" charset="0"/>
              </a:rPr>
              <a:t>10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-2 или 1022 IP-адресов.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После увеличения длины сетевого префикса образуются два IP-адреса вида: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11000111 00001001 00011000 00000000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11000111 00001001 00011100 00000000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десятичной системе счисления данные IP-адреса записываются как 199.9.24.0 и 199.9.28.0.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для второго отдела представляется как 199.9.24.0/22,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199.9.28.0/22 используется для дальнейшего разбиения.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Решение. 3-ий этап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На третьем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этапе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199.9.28.0/22 разделяется на две равные части путем увеличения длины сетевого префикса на единицу. Тогда в каждом блоке на адресацию хостов отводится 2</a:t>
            </a:r>
            <a:r>
              <a:rPr lang="ru-RU" sz="2400" baseline="30000" dirty="0" smtClean="0">
                <a:latin typeface="Arial" pitchFamily="34" charset="0"/>
                <a:cs typeface="Arial" pitchFamily="34" charset="0"/>
              </a:rPr>
              <a:t>9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-2 или 510 IP-адресов.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После увеличения длины сетевого префикса образуются два IP-адреса вида: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11000111 00001001 00011100 00000000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11000111 00001001 00011110 00000000</a:t>
            </a:r>
          </a:p>
          <a:p>
            <a:pPr marL="0" indent="358775" algn="just">
              <a:lnSpc>
                <a:spcPct val="120000"/>
              </a:lnSpc>
              <a:buNone/>
            </a:pPr>
            <a:r>
              <a:rPr lang="ru-RU" sz="2400" dirty="0" smtClean="0">
                <a:latin typeface="Arial" pitchFamily="34" charset="0"/>
                <a:cs typeface="Arial" pitchFamily="34" charset="0"/>
              </a:rPr>
              <a:t>В десятичной системе счисления данные IP-адреса записываются как 199.9.28.0 и 199.9.30.0.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для третьего отдела представляется как 199.9.28.0/23,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диапазон </a:t>
            </a:r>
            <a:r>
              <a:rPr lang="ru-RU" sz="2400" dirty="0" smtClean="0">
                <a:latin typeface="Arial" pitchFamily="34" charset="0"/>
                <a:cs typeface="Arial" pitchFamily="34" charset="0"/>
              </a:rPr>
              <a:t>адресов 199.9.30.0/23 используется для четвертого отдела.</a:t>
            </a: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just"/>
            <a:r>
              <a:rPr lang="ru-RU" dirty="0" smtClean="0">
                <a:latin typeface="Arial" pitchFamily="34" charset="0"/>
                <a:cs typeface="Arial" pitchFamily="34" charset="0"/>
              </a:rPr>
              <a:t>Разделение адресного пространства между четырьмя отделами организации</a:t>
            </a:r>
            <a:endParaRPr lang="ru-RU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358775" algn="just">
              <a:lnSpc>
                <a:spcPct val="120000"/>
              </a:lnSpc>
              <a:buNone/>
            </a:pPr>
            <a:r>
              <a:rPr lang="ru-RU" sz="1800" dirty="0" smtClean="0">
                <a:latin typeface="Arial" pitchFamily="34" charset="0"/>
                <a:cs typeface="Arial" pitchFamily="34" charset="0"/>
              </a:rPr>
              <a:t>В первом отделе 1500 IP-адресов используются, а 546 IP-адресов остаются в резерве. Во втором отделе 800 IP-адресов используются, а 222 IP-адреса остаются в резерве. В третьем отделе 400 IP-адресов используются, а 110 IP-адресов остаются в резерве. В четвертом отделе 350 IP-адресов используются, а 160 IP-адресов остаются в резерве.</a:t>
            </a:r>
          </a:p>
          <a:p>
            <a:pPr marL="0" indent="358775" algn="just">
              <a:lnSpc>
                <a:spcPct val="120000"/>
              </a:lnSpc>
              <a:buNone/>
            </a:pPr>
            <a:endParaRPr lang="ru-RU" sz="18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None/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 smtClean="0">
              <a:latin typeface="Arial" pitchFamily="34" charset="0"/>
              <a:cs typeface="Arial" pitchFamily="34" charset="0"/>
            </a:endParaRPr>
          </a:p>
          <a:p>
            <a:pPr marL="0" indent="358775" algn="just">
              <a:lnSpc>
                <a:spcPct val="120000"/>
              </a:lnSpc>
              <a:buBlip>
                <a:blip r:embed="rId2"/>
              </a:buBlip>
            </a:pPr>
            <a:endParaRPr lang="ru-R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530" name="AutoShape 2" descr="https://img.uslugio.com/img/f7/f0/f7f0b3e142d926ed1c45be348571349d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3"/>
          <a:srcRect l="25293" t="37305" r="49451" b="20703"/>
          <a:stretch>
            <a:fillRect/>
          </a:stretch>
        </p:blipFill>
        <p:spPr bwMode="auto">
          <a:xfrm>
            <a:off x="3929058" y="3000372"/>
            <a:ext cx="328614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Поток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4668</TotalTime>
  <Words>2369</Words>
  <Application>Microsoft Office PowerPoint</Application>
  <PresentationFormat>Экран (4:3)</PresentationFormat>
  <Paragraphs>327</Paragraphs>
  <Slides>56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HeadingPairs>
  <TitlesOfParts>
    <vt:vector size="57" baseType="lpstr">
      <vt:lpstr>Начальная</vt:lpstr>
      <vt:lpstr>ПРОЕКТИРОВАНИЕ ЛОКАЛЬНОЙ  ВЫЧИСЛИТЕЛЬНОЙ СЕТИ ОРГАНИЗАЦИИ</vt:lpstr>
      <vt:lpstr>Исходные данные </vt:lpstr>
      <vt:lpstr>Требования</vt:lpstr>
      <vt:lpstr>Глава 1. Описание организации</vt:lpstr>
      <vt:lpstr>Пример описания функций подразделения</vt:lpstr>
      <vt:lpstr>Глава 2. Разработка транспортной подсистемы ЛВС организации</vt:lpstr>
      <vt:lpstr>Пример плана территории. Яндекс Карты</vt:lpstr>
      <vt:lpstr>Пример плана территории. Графический редактор </vt:lpstr>
      <vt:lpstr>Пример описания этажа здания</vt:lpstr>
      <vt:lpstr>Инструмент для выполнения планов этажей</vt:lpstr>
      <vt:lpstr>Создание диаграммы</vt:lpstr>
      <vt:lpstr>Доступные наборы фигур</vt:lpstr>
      <vt:lpstr>Добавление дополнительных наборов фигур</vt:lpstr>
      <vt:lpstr>Библиотека LocalNetwork.xml</vt:lpstr>
      <vt:lpstr>Добавление библиотеки LocalNetwork.xml</vt:lpstr>
      <vt:lpstr>План этажа</vt:lpstr>
      <vt:lpstr>Элементы на плане этажа</vt:lpstr>
      <vt:lpstr>Площадь рабочего места</vt:lpstr>
      <vt:lpstr>Стены</vt:lpstr>
      <vt:lpstr>Характеристики помещения</vt:lpstr>
      <vt:lpstr>Обозначение характеристик помещения</vt:lpstr>
      <vt:lpstr>Двери, окна и лестницы</vt:lpstr>
      <vt:lpstr>Вентиляционные каналы</vt:lpstr>
      <vt:lpstr>Телекоммуникационная розетка</vt:lpstr>
      <vt:lpstr>Внутренняя телекоммуникационная розетка</vt:lpstr>
      <vt:lpstr>Внешняя телекоммуникационная розетка</vt:lpstr>
      <vt:lpstr>Установка информационных розеток</vt:lpstr>
      <vt:lpstr>Телекоммуникационная розетка</vt:lpstr>
      <vt:lpstr>Кабельная трасса</vt:lpstr>
      <vt:lpstr>Открытый тип прокладки кабельной трассы</vt:lpstr>
      <vt:lpstr>Лоток</vt:lpstr>
      <vt:lpstr>Кабель-канал</vt:lpstr>
      <vt:lpstr>Размер кабель-канала</vt:lpstr>
      <vt:lpstr>Скрытый тип прокладки кабельной трассы</vt:lpstr>
      <vt:lpstr>Скрытый тип прокладки кабельной трассы</vt:lpstr>
      <vt:lpstr>Кабельные трассы</vt:lpstr>
      <vt:lpstr>Телекоммуникационная стойка и шкаф</vt:lpstr>
      <vt:lpstr>Внешний вид стойки и шкафов</vt:lpstr>
      <vt:lpstr>Пример размещения оборудования в монтажном шкафу</vt:lpstr>
      <vt:lpstr>Пример размещения оборудования в телекоммуникационной стойке</vt:lpstr>
      <vt:lpstr>Монтажный шкаф</vt:lpstr>
      <vt:lpstr>Телекоммуникационная стойка</vt:lpstr>
      <vt:lpstr>Глава 3. Выбор топологии и компонентов ЛВС</vt:lpstr>
      <vt:lpstr>Глава 3. Выбор топологии и компонентов ЛВС</vt:lpstr>
      <vt:lpstr>Патч-панель</vt:lpstr>
      <vt:lpstr>Рабочие области патч-панели</vt:lpstr>
      <vt:lpstr>Патч-панель в телекоммуникационном шкафу</vt:lpstr>
      <vt:lpstr>Глава 4. Расчет количества компонентов ЛВС</vt:lpstr>
      <vt:lpstr>Глава 5. Адресация в ЛВС</vt:lpstr>
      <vt:lpstr>Технология бесклассовой междоменной маршрутизации </vt:lpstr>
      <vt:lpstr>Правила при представлении пула IP-адресов </vt:lpstr>
      <vt:lpstr>Разбиение адресного пространства с использованием технологии CIDR</vt:lpstr>
      <vt:lpstr>Решение. 1-ый этап</vt:lpstr>
      <vt:lpstr>Решение. 2-ой этап</vt:lpstr>
      <vt:lpstr>Решение. 3-ий этап</vt:lpstr>
      <vt:lpstr>Разделение адресного пространства между четырьмя отделами организации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Home</dc:creator>
  <cp:lastModifiedBy>Elena</cp:lastModifiedBy>
  <cp:revision>208</cp:revision>
  <dcterms:created xsi:type="dcterms:W3CDTF">2018-02-10T18:19:57Z</dcterms:created>
  <dcterms:modified xsi:type="dcterms:W3CDTF">2023-03-22T23:19:37Z</dcterms:modified>
</cp:coreProperties>
</file>